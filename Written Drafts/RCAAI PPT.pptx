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59" r:id="rId12"/>
    <p:sldId id="267" r:id="rId13"/>
    <p:sldId id="268" r:id="rId14"/>
  </p:sldIdLst>
  <p:sldSz cx="18288000" cy="10287000"/>
  <p:notesSz cx="6858000" cy="9144000"/>
  <p:embeddedFontLst>
    <p:embeddedFont>
      <p:font typeface="Helvetica World Bold" panose="020B0604020202020204" charset="-128"/>
      <p:regular r:id="rId16"/>
    </p:embeddedFont>
    <p:embeddedFont>
      <p:font typeface="Canva Sans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" y="2819476"/>
            <a:ext cx="18288000" cy="3581400"/>
            <a:chOff x="0" y="0"/>
            <a:chExt cx="24384000" cy="477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4775200"/>
            </a:xfrm>
            <a:custGeom>
              <a:avLst/>
              <a:gdLst/>
              <a:ahLst/>
              <a:cxnLst/>
              <a:rect l="l" t="t" r="r" b="b"/>
              <a:pathLst>
                <a:path w="24384000" h="4775200">
                  <a:moveTo>
                    <a:pt x="0" y="0"/>
                  </a:moveTo>
                  <a:lnTo>
                    <a:pt x="24384000" y="0"/>
                  </a:lnTo>
                  <a:lnTo>
                    <a:pt x="2438400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24384000" cy="47466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 spc="-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190</a:t>
              </a:r>
            </a:p>
            <a:p>
              <a:pPr algn="ctr">
                <a:lnSpc>
                  <a:spcPts val="5832"/>
                </a:lnSpc>
              </a:pPr>
              <a:r>
                <a:rPr lang="en-US" sz="5400" b="1" spc="-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Classification of Retinal Diseases based on Optical Coherence Tomography Images using Transfer Learning</a:t>
              </a:r>
            </a:p>
            <a:p>
              <a:pPr algn="ctr">
                <a:lnSpc>
                  <a:spcPts val="5832"/>
                </a:lnSpc>
              </a:pPr>
              <a:endParaRPr lang="en-US" sz="5400" b="1" spc="-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2282" y="6410401"/>
            <a:ext cx="17423436" cy="1791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Shaivi Rutvij Panchal, Reva Sameer Laghate, Omkar S Powar</a:t>
            </a:r>
          </a:p>
          <a:p>
            <a:pPr algn="ctr">
              <a:lnSpc>
                <a:spcPts val="3456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Biomedical Engineering, Manipal Institute of Technology, Manipal Academy of Higher Education, Manipal, Karnataka, India - 576104 </a:t>
            </a:r>
          </a:p>
          <a:p>
            <a:pPr algn="ctr">
              <a:lnSpc>
                <a:spcPts val="3456"/>
              </a:lnSpc>
            </a:pPr>
            <a:endParaRPr lang="en-US" sz="32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6680" y="8976360"/>
            <a:ext cx="18181320" cy="1153753"/>
            <a:chOff x="0" y="0"/>
            <a:chExt cx="24241760" cy="15383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241761" cy="1538351"/>
            </a:xfrm>
            <a:custGeom>
              <a:avLst/>
              <a:gdLst/>
              <a:ahLst/>
              <a:cxnLst/>
              <a:rect l="l" t="t" r="r" b="b"/>
              <a:pathLst>
                <a:path w="24241761" h="1538351">
                  <a:moveTo>
                    <a:pt x="0" y="0"/>
                  </a:moveTo>
                  <a:lnTo>
                    <a:pt x="24241761" y="0"/>
                  </a:lnTo>
                  <a:lnTo>
                    <a:pt x="24241761" y="1538351"/>
                  </a:lnTo>
                  <a:lnTo>
                    <a:pt x="0" y="1538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3" r="-29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20110" y="118787"/>
            <a:ext cx="1921680" cy="1869742"/>
            <a:chOff x="0" y="0"/>
            <a:chExt cx="2562240" cy="24929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2225" cy="2493010"/>
            </a:xfrm>
            <a:custGeom>
              <a:avLst/>
              <a:gdLst/>
              <a:ahLst/>
              <a:cxnLst/>
              <a:rect l="l" t="t" r="r" b="b"/>
              <a:pathLst>
                <a:path w="2562225" h="2493010">
                  <a:moveTo>
                    <a:pt x="0" y="0"/>
                  </a:moveTo>
                  <a:lnTo>
                    <a:pt x="2562225" y="0"/>
                  </a:lnTo>
                  <a:lnTo>
                    <a:pt x="2562225" y="2493010"/>
                  </a:lnTo>
                  <a:lnTo>
                    <a:pt x="0" y="2493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48840" y="332224"/>
            <a:ext cx="14142720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1">
                <a:solidFill>
                  <a:srgbClr val="FF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4TH INTERNATIONAL CONFERENCE ON ROBOTICS, CONTROL, AUTOMATION AND ARTIFICIAL INTELLIGENCE 2025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2395" y="51222"/>
            <a:ext cx="2114550" cy="2114550"/>
            <a:chOff x="0" y="0"/>
            <a:chExt cx="2819400" cy="2819400"/>
          </a:xfrm>
        </p:grpSpPr>
        <p:sp>
          <p:nvSpPr>
            <p:cNvPr id="12" name="Freeform 12" descr="MIT – Shiksha Forum"/>
            <p:cNvSpPr/>
            <p:nvPr/>
          </p:nvSpPr>
          <p:spPr>
            <a:xfrm>
              <a:off x="0" y="0"/>
              <a:ext cx="2819400" cy="2819400"/>
            </a:xfrm>
            <a:custGeom>
              <a:avLst/>
              <a:gdLst/>
              <a:ahLst/>
              <a:cxnLst/>
              <a:rect l="l" t="t" r="r" b="b"/>
              <a:pathLst>
                <a:path w="2819400" h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2819400"/>
                  </a:lnTo>
                  <a:lnTo>
                    <a:pt x="0" y="281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98206" y="1830268"/>
            <a:ext cx="9061245" cy="7230557"/>
          </a:xfrm>
          <a:custGeom>
            <a:avLst/>
            <a:gdLst/>
            <a:ahLst/>
            <a:cxnLst/>
            <a:rect l="l" t="t" r="r" b="b"/>
            <a:pathLst>
              <a:path w="9061245" h="7230557">
                <a:moveTo>
                  <a:pt x="0" y="0"/>
                </a:moveTo>
                <a:lnTo>
                  <a:pt x="9061244" y="0"/>
                </a:lnTo>
                <a:lnTo>
                  <a:pt x="9061244" y="7230557"/>
                </a:lnTo>
                <a:lnTo>
                  <a:pt x="0" y="7230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7519671" y="947307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2355" y="1696918"/>
            <a:ext cx="7995850" cy="7317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Introduction</a:t>
            </a:r>
          </a:p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Literature Review</a:t>
            </a:r>
          </a:p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Problem Statement</a:t>
            </a:r>
          </a:p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Objectives</a:t>
            </a:r>
          </a:p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Methodology</a:t>
            </a:r>
          </a:p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Result &amp; Discussion</a:t>
            </a:r>
          </a:p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Conclusion</a:t>
            </a:r>
          </a:p>
          <a:p>
            <a:pPr marL="1110793" lvl="1" indent="-555396" algn="just">
              <a:lnSpc>
                <a:spcPts val="7202"/>
              </a:lnSpc>
              <a:buAutoNum type="arabicPeriod"/>
            </a:pPr>
            <a:r>
              <a:rPr lang="en-US" sz="514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C1C80E-65BB-AA8D-F0CF-F4CC0A1D3F79}"/>
              </a:ext>
            </a:extLst>
          </p:cNvPr>
          <p:cNvSpPr txBox="1"/>
          <p:nvPr/>
        </p:nvSpPr>
        <p:spPr>
          <a:xfrm>
            <a:off x="602355" y="210332"/>
            <a:ext cx="104983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34323" y="1638300"/>
            <a:ext cx="17019354" cy="893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3416" lvl="1" indent="-391708" algn="just">
              <a:lnSpc>
                <a:spcPts val="5080"/>
              </a:lnSpc>
              <a:buFont typeface="Arial"/>
              <a:buChar char="•"/>
            </a:pPr>
            <a:r>
              <a:rPr lang="en-US" sz="3628" b="1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Age-related Macular Degeneration</a:t>
            </a: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(AMD) and </a:t>
            </a:r>
            <a:r>
              <a:rPr lang="en-US" sz="3628" b="1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Diabetic Macular Edema</a:t>
            </a: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(DME) are major causes of vision loss, especially in individuals over 65 and those with diabetes.</a:t>
            </a:r>
          </a:p>
          <a:p>
            <a:pPr marL="783416" lvl="1" indent="-391708" algn="just">
              <a:lnSpc>
                <a:spcPts val="5080"/>
              </a:lnSpc>
              <a:buFont typeface="Arial"/>
              <a:buChar char="•"/>
            </a:pP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 affects the macula, leading to central vision loss, and occurs in two forms: dry (90%), linked with</a:t>
            </a:r>
            <a:r>
              <a:rPr lang="en-US" sz="3628" dirty="0">
                <a:solidFill>
                  <a:srgbClr val="00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28" b="1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drusen </a:t>
            </a: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deposits, and wet, involving </a:t>
            </a:r>
            <a:r>
              <a:rPr lang="en-US" sz="3628" b="1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choroidal neovascularization</a:t>
            </a: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(CNV).</a:t>
            </a:r>
          </a:p>
          <a:p>
            <a:pPr marL="783416" lvl="1" indent="-391708" algn="just">
              <a:lnSpc>
                <a:spcPts val="5080"/>
              </a:lnSpc>
              <a:buFont typeface="Arial"/>
              <a:buChar char="•"/>
            </a:pP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DME arises from retinal fluid accumulation caused by prolonged hyperglycemia, commonly seen in diabetic retinopathy.</a:t>
            </a:r>
          </a:p>
          <a:p>
            <a:pPr marL="783416" lvl="1" indent="-391708" algn="just">
              <a:lnSpc>
                <a:spcPts val="5080"/>
              </a:lnSpc>
              <a:buFont typeface="Arial"/>
              <a:buChar char="•"/>
            </a:pPr>
            <a:r>
              <a:rPr lang="en-US" sz="3628" b="1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Optical Coherence Tomography</a:t>
            </a: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(OCT) provides non-invasive, high-resolution cross-sectional imaging of retinal layers, enabling superior structural analysis.</a:t>
            </a:r>
          </a:p>
          <a:p>
            <a:pPr marL="783416" lvl="1" indent="-391708" algn="just">
              <a:lnSpc>
                <a:spcPts val="5080"/>
              </a:lnSpc>
              <a:buFont typeface="Arial"/>
              <a:buChar char="•"/>
            </a:pPr>
            <a:r>
              <a:rPr lang="en-US" sz="3628" b="1" dirty="0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Deep learning and transfer learning models</a:t>
            </a:r>
            <a:r>
              <a:rPr lang="en-US" sz="362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CNNs, InceptionV3, MobileNetV2) enhance automated OCT-based diagnosis, addressing limitations of manual interpretation and data scarcity.</a:t>
            </a:r>
          </a:p>
          <a:p>
            <a:pPr algn="just">
              <a:lnSpc>
                <a:spcPts val="5080"/>
              </a:lnSpc>
            </a:pPr>
            <a:endParaRPr lang="en-US" sz="362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B0EE8-7441-4BC5-4F2B-5A7688FEF73A}"/>
              </a:ext>
            </a:extLst>
          </p:cNvPr>
          <p:cNvSpPr txBox="1"/>
          <p:nvPr/>
        </p:nvSpPr>
        <p:spPr>
          <a:xfrm>
            <a:off x="634323" y="342900"/>
            <a:ext cx="9144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D2BBBF-9B45-9C81-4A5D-9F0951173760}"/>
              </a:ext>
            </a:extLst>
          </p:cNvPr>
          <p:cNvSpPr txBox="1"/>
          <p:nvPr/>
        </p:nvSpPr>
        <p:spPr>
          <a:xfrm>
            <a:off x="634322" y="342900"/>
            <a:ext cx="11100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4" name="Picture 3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8C007E2C-9A2D-7581-616A-8495DD4C8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CAD07D-2BE5-BC4F-9968-C165FE4330DB}"/>
              </a:ext>
            </a:extLst>
          </p:cNvPr>
          <p:cNvSpPr txBox="1"/>
          <p:nvPr/>
        </p:nvSpPr>
        <p:spPr>
          <a:xfrm>
            <a:off x="634322" y="342900"/>
            <a:ext cx="104908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57409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26620" y="3597347"/>
            <a:ext cx="10434760" cy="5811765"/>
          </a:xfrm>
          <a:custGeom>
            <a:avLst/>
            <a:gdLst/>
            <a:ahLst/>
            <a:cxnLst/>
            <a:rect l="l" t="t" r="r" b="b"/>
            <a:pathLst>
              <a:path w="10434760" h="5811765">
                <a:moveTo>
                  <a:pt x="0" y="0"/>
                </a:moveTo>
                <a:lnTo>
                  <a:pt x="10434760" y="0"/>
                </a:lnTo>
                <a:lnTo>
                  <a:pt x="10434760" y="5811765"/>
                </a:lnTo>
                <a:lnTo>
                  <a:pt x="0" y="581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1682805"/>
            <a:ext cx="16686557" cy="285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4"/>
              </a:lnSpc>
            </a:pPr>
            <a:r>
              <a:rPr lang="en-US" sz="4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world retinal imaging data </a:t>
            </a:r>
            <a:r>
              <a:rPr lang="en-US" sz="4151" b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exhibit significant class imbalance</a:t>
            </a:r>
            <a:r>
              <a:rPr lang="en-US" sz="41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highlighting the need for an optimized, well-evaluated deep learning model that ensures balanced, high-accuracy classification for </a:t>
            </a:r>
            <a:r>
              <a:rPr lang="en-US" sz="4151" b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ophthalmic diagnosis.</a:t>
            </a:r>
          </a:p>
          <a:p>
            <a:pPr algn="just">
              <a:lnSpc>
                <a:spcPts val="4484"/>
              </a:lnSpc>
            </a:pPr>
            <a:endParaRPr lang="en-US" sz="4151" b="1">
              <a:solidFill>
                <a:srgbClr val="004AA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12545" y="9418637"/>
            <a:ext cx="12318867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500" spc="-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Figure 1: Distribution of Samples across the Retinal OCT Dataset Classes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0301F-8D91-501E-5370-178C12CD347A}"/>
              </a:ext>
            </a:extLst>
          </p:cNvPr>
          <p:cNvSpPr txBox="1"/>
          <p:nvPr/>
        </p:nvSpPr>
        <p:spPr>
          <a:xfrm>
            <a:off x="609600" y="331584"/>
            <a:ext cx="112014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00239" y="2326000"/>
            <a:ext cx="4887200" cy="6766147"/>
            <a:chOff x="0" y="0"/>
            <a:chExt cx="5885544" cy="81483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85561" cy="8148320"/>
            </a:xfrm>
            <a:custGeom>
              <a:avLst/>
              <a:gdLst/>
              <a:ahLst/>
              <a:cxnLst/>
              <a:rect l="l" t="t" r="r" b="b"/>
              <a:pathLst>
                <a:path w="5885561" h="8148320">
                  <a:moveTo>
                    <a:pt x="0" y="0"/>
                  </a:moveTo>
                  <a:lnTo>
                    <a:pt x="5885561" y="0"/>
                  </a:lnTo>
                  <a:lnTo>
                    <a:pt x="5885561" y="8148320"/>
                  </a:lnTo>
                  <a:lnTo>
                    <a:pt x="0" y="8148320"/>
                  </a:lnTo>
                  <a:lnTo>
                    <a:pt x="0" y="0"/>
                  </a:lnTo>
                </a:path>
              </a:pathLst>
            </a:custGeom>
            <a:solidFill>
              <a:srgbClr val="B8D7E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83873" y="4317516"/>
            <a:ext cx="4519931" cy="448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8"/>
              </a:lnSpc>
            </a:pPr>
            <a:r>
              <a:rPr lang="en-US" sz="27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</a:t>
            </a:r>
            <a:r>
              <a:rPr lang="en-US" sz="276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transfer learning–based deep learning model</a:t>
            </a:r>
            <a:r>
              <a:rPr lang="en-US" sz="27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lang="en-US" sz="276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InceptionV3 and MobileNetV2 </a:t>
            </a:r>
            <a:r>
              <a:rPr lang="en-US" sz="276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accurate and automated classification of retinal diseases from OCT images.</a:t>
            </a:r>
          </a:p>
          <a:p>
            <a:pPr algn="ctr">
              <a:lnSpc>
                <a:spcPts val="4428"/>
              </a:lnSpc>
            </a:pPr>
            <a:endParaRPr lang="en-US" sz="27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530680" y="2617835"/>
            <a:ext cx="5826317" cy="1242481"/>
            <a:chOff x="0" y="0"/>
            <a:chExt cx="7016502" cy="14962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16496" cy="1496314"/>
            </a:xfrm>
            <a:custGeom>
              <a:avLst/>
              <a:gdLst/>
              <a:ahLst/>
              <a:cxnLst/>
              <a:rect l="l" t="t" r="r" b="b"/>
              <a:pathLst>
                <a:path w="7016496" h="1496314">
                  <a:moveTo>
                    <a:pt x="0" y="0"/>
                  </a:moveTo>
                  <a:lnTo>
                    <a:pt x="7016496" y="0"/>
                  </a:lnTo>
                  <a:lnTo>
                    <a:pt x="7016496" y="1496314"/>
                  </a:lnTo>
                  <a:lnTo>
                    <a:pt x="0" y="1496314"/>
                  </a:lnTo>
                  <a:close/>
                </a:path>
              </a:pathLst>
            </a:custGeom>
            <a:solidFill>
              <a:srgbClr val="6C98B1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43826" y="2841162"/>
            <a:ext cx="5400024" cy="69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398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Transfer Learning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313506" y="2326000"/>
            <a:ext cx="4887200" cy="6766147"/>
            <a:chOff x="0" y="0"/>
            <a:chExt cx="5885544" cy="81483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85561" cy="8148320"/>
            </a:xfrm>
            <a:custGeom>
              <a:avLst/>
              <a:gdLst/>
              <a:ahLst/>
              <a:cxnLst/>
              <a:rect l="l" t="t" r="r" b="b"/>
              <a:pathLst>
                <a:path w="5885561" h="8148320">
                  <a:moveTo>
                    <a:pt x="0" y="0"/>
                  </a:moveTo>
                  <a:lnTo>
                    <a:pt x="5885561" y="0"/>
                  </a:lnTo>
                  <a:lnTo>
                    <a:pt x="5885561" y="8148320"/>
                  </a:lnTo>
                  <a:lnTo>
                    <a:pt x="0" y="8148320"/>
                  </a:lnTo>
                  <a:lnTo>
                    <a:pt x="0" y="0"/>
                  </a:lnTo>
                </a:path>
              </a:pathLst>
            </a:custGeom>
            <a:solidFill>
              <a:srgbClr val="6C98B1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97141" y="4317516"/>
            <a:ext cx="4519931" cy="3926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8"/>
              </a:lnSpc>
              <a:spcBef>
                <a:spcPct val="0"/>
              </a:spcBef>
            </a:pPr>
            <a:r>
              <a:rPr lang="en-US" sz="2767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address real-world </a:t>
            </a:r>
            <a:r>
              <a:rPr lang="en-US" sz="2767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 imbalance</a:t>
            </a:r>
            <a:r>
              <a:rPr lang="en-US" sz="2767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</a:t>
            </a:r>
            <a:r>
              <a:rPr lang="en-US" sz="2767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 weighting</a:t>
            </a:r>
            <a:r>
              <a:rPr lang="en-US" sz="2767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767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augmentation</a:t>
            </a:r>
            <a:r>
              <a:rPr lang="en-US" sz="2767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balanced performance and reliable detection across all retinal disease categories.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43948" y="2617835"/>
            <a:ext cx="5826317" cy="1242481"/>
            <a:chOff x="0" y="0"/>
            <a:chExt cx="7016502" cy="14962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16496" cy="1496314"/>
            </a:xfrm>
            <a:custGeom>
              <a:avLst/>
              <a:gdLst/>
              <a:ahLst/>
              <a:cxnLst/>
              <a:rect l="l" t="t" r="r" b="b"/>
              <a:pathLst>
                <a:path w="7016496" h="1496314">
                  <a:moveTo>
                    <a:pt x="0" y="0"/>
                  </a:moveTo>
                  <a:lnTo>
                    <a:pt x="7016496" y="0"/>
                  </a:lnTo>
                  <a:lnTo>
                    <a:pt x="7016496" y="1496314"/>
                  </a:lnTo>
                  <a:lnTo>
                    <a:pt x="0" y="1496314"/>
                  </a:lnTo>
                  <a:close/>
                </a:path>
              </a:pathLst>
            </a:custGeom>
            <a:solidFill>
              <a:srgbClr val="B8D7E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057094" y="2841162"/>
            <a:ext cx="5400024" cy="69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398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 Imbalance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B54CD0-EA36-70ED-9505-DF88C1A082C8}"/>
              </a:ext>
            </a:extLst>
          </p:cNvPr>
          <p:cNvSpPr txBox="1"/>
          <p:nvPr/>
        </p:nvSpPr>
        <p:spPr>
          <a:xfrm>
            <a:off x="699948" y="388336"/>
            <a:ext cx="9144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96266" y="5849676"/>
            <a:ext cx="4051685" cy="4051254"/>
            <a:chOff x="0" y="0"/>
            <a:chExt cx="6437192" cy="6436508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6411849" cy="6411087"/>
            </a:xfrm>
            <a:custGeom>
              <a:avLst/>
              <a:gdLst/>
              <a:ahLst/>
              <a:cxnLst/>
              <a:rect l="l" t="t" r="r" b="b"/>
              <a:pathLst>
                <a:path w="6411849" h="6411087">
                  <a:moveTo>
                    <a:pt x="0" y="3205607"/>
                  </a:moveTo>
                  <a:cubicBezTo>
                    <a:pt x="0" y="1435227"/>
                    <a:pt x="1435354" y="0"/>
                    <a:pt x="3205861" y="0"/>
                  </a:cubicBezTo>
                  <a:cubicBezTo>
                    <a:pt x="4976368" y="0"/>
                    <a:pt x="6411849" y="1435227"/>
                    <a:pt x="6411849" y="3205607"/>
                  </a:cubicBezTo>
                  <a:cubicBezTo>
                    <a:pt x="6411849" y="4975987"/>
                    <a:pt x="4976495" y="6411087"/>
                    <a:pt x="3205861" y="6411087"/>
                  </a:cubicBezTo>
                  <a:cubicBezTo>
                    <a:pt x="1435227" y="6411087"/>
                    <a:pt x="0" y="4975987"/>
                    <a:pt x="0" y="3205607"/>
                  </a:cubicBezTo>
                  <a:close/>
                </a:path>
              </a:pathLst>
            </a:custGeom>
            <a:solidFill>
              <a:srgbClr val="B8D7E9">
                <a:alpha val="8078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6437249" cy="6436487"/>
            </a:xfrm>
            <a:custGeom>
              <a:avLst/>
              <a:gdLst/>
              <a:ahLst/>
              <a:cxnLst/>
              <a:rect l="l" t="t" r="r" b="b"/>
              <a:pathLst>
                <a:path w="6437249" h="6436487">
                  <a:moveTo>
                    <a:pt x="0" y="3218307"/>
                  </a:moveTo>
                  <a:cubicBezTo>
                    <a:pt x="0" y="1440815"/>
                    <a:pt x="1441069" y="0"/>
                    <a:pt x="3218561" y="0"/>
                  </a:cubicBezTo>
                  <a:lnTo>
                    <a:pt x="3218561" y="12700"/>
                  </a:lnTo>
                  <a:lnTo>
                    <a:pt x="3218561" y="0"/>
                  </a:lnTo>
                  <a:cubicBezTo>
                    <a:pt x="4996180" y="0"/>
                    <a:pt x="6437249" y="1440815"/>
                    <a:pt x="6437249" y="3218307"/>
                  </a:cubicBezTo>
                  <a:cubicBezTo>
                    <a:pt x="6437249" y="4995799"/>
                    <a:pt x="4996180" y="6436487"/>
                    <a:pt x="3218561" y="6436487"/>
                  </a:cubicBezTo>
                  <a:lnTo>
                    <a:pt x="3218561" y="6423787"/>
                  </a:lnTo>
                  <a:lnTo>
                    <a:pt x="3218561" y="6436487"/>
                  </a:lnTo>
                  <a:cubicBezTo>
                    <a:pt x="1441069" y="6436487"/>
                    <a:pt x="0" y="4995672"/>
                    <a:pt x="0" y="3218307"/>
                  </a:cubicBezTo>
                  <a:lnTo>
                    <a:pt x="12700" y="3218307"/>
                  </a:lnTo>
                  <a:lnTo>
                    <a:pt x="23368" y="3225165"/>
                  </a:lnTo>
                  <a:cubicBezTo>
                    <a:pt x="20320" y="3229864"/>
                    <a:pt x="14478" y="3232023"/>
                    <a:pt x="9144" y="3230499"/>
                  </a:cubicBezTo>
                  <a:cubicBezTo>
                    <a:pt x="3810" y="3228975"/>
                    <a:pt x="0" y="3223895"/>
                    <a:pt x="0" y="3218307"/>
                  </a:cubicBezTo>
                  <a:moveTo>
                    <a:pt x="25400" y="3218307"/>
                  </a:moveTo>
                  <a:lnTo>
                    <a:pt x="12700" y="3218307"/>
                  </a:lnTo>
                  <a:lnTo>
                    <a:pt x="2032" y="3211449"/>
                  </a:lnTo>
                  <a:cubicBezTo>
                    <a:pt x="5080" y="3206750"/>
                    <a:pt x="10922" y="3204591"/>
                    <a:pt x="16256" y="3206115"/>
                  </a:cubicBezTo>
                  <a:cubicBezTo>
                    <a:pt x="21590" y="3207639"/>
                    <a:pt x="25400" y="3212719"/>
                    <a:pt x="25400" y="3218307"/>
                  </a:cubicBezTo>
                  <a:cubicBezTo>
                    <a:pt x="25400" y="4981575"/>
                    <a:pt x="1455039" y="6411087"/>
                    <a:pt x="3218561" y="6411087"/>
                  </a:cubicBezTo>
                  <a:cubicBezTo>
                    <a:pt x="4982083" y="6411087"/>
                    <a:pt x="6411849" y="4981575"/>
                    <a:pt x="6411849" y="3218307"/>
                  </a:cubicBezTo>
                  <a:lnTo>
                    <a:pt x="6424549" y="3218307"/>
                  </a:lnTo>
                  <a:lnTo>
                    <a:pt x="6411849" y="3218307"/>
                  </a:lnTo>
                  <a:cubicBezTo>
                    <a:pt x="6411849" y="1454912"/>
                    <a:pt x="4982210" y="25400"/>
                    <a:pt x="3218561" y="25400"/>
                  </a:cubicBezTo>
                  <a:lnTo>
                    <a:pt x="3218561" y="12700"/>
                  </a:lnTo>
                  <a:lnTo>
                    <a:pt x="3218561" y="25400"/>
                  </a:lnTo>
                  <a:cubicBezTo>
                    <a:pt x="1455039" y="25400"/>
                    <a:pt x="25400" y="1454912"/>
                    <a:pt x="25400" y="3218307"/>
                  </a:cubicBezTo>
                  <a:close/>
                </a:path>
              </a:pathLst>
            </a:custGeom>
            <a:solidFill>
              <a:srgbClr val="B8D7E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35697" y="5915116"/>
            <a:ext cx="3772824" cy="3570388"/>
            <a:chOff x="0" y="0"/>
            <a:chExt cx="4865481" cy="4604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65481" cy="4604418"/>
            </a:xfrm>
            <a:custGeom>
              <a:avLst/>
              <a:gdLst/>
              <a:ahLst/>
              <a:cxnLst/>
              <a:rect l="l" t="t" r="r" b="b"/>
              <a:pathLst>
                <a:path w="4865481" h="4604418">
                  <a:moveTo>
                    <a:pt x="0" y="0"/>
                  </a:moveTo>
                  <a:lnTo>
                    <a:pt x="4865481" y="0"/>
                  </a:lnTo>
                  <a:lnTo>
                    <a:pt x="4865481" y="4604418"/>
                  </a:lnTo>
                  <a:lnTo>
                    <a:pt x="0" y="4604418"/>
                  </a:lnTo>
                  <a:close/>
                </a:path>
              </a:pathLst>
            </a:custGeom>
            <a:solidFill>
              <a:srgbClr val="B8D7E9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4865481" cy="4594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56"/>
                </a:lnSpc>
              </a:pPr>
              <a:r>
                <a:rPr lang="en-US" sz="3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ARCHITECTURE</a:t>
              </a:r>
            </a:p>
            <a:p>
              <a:pPr algn="ctr">
                <a:lnSpc>
                  <a:spcPts val="2700"/>
                </a:lnSpc>
              </a:pPr>
              <a:r>
                <a:rPr lang="en-US" sz="2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InceptionV3 &amp;  MobileNetV2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Flatten, Dense layers with early stopping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 rot="-7695997">
            <a:off x="3790307" y="5407962"/>
            <a:ext cx="1175468" cy="875584"/>
            <a:chOff x="0" y="0"/>
            <a:chExt cx="716088" cy="533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6088" cy="533400"/>
            </a:xfrm>
            <a:custGeom>
              <a:avLst/>
              <a:gdLst/>
              <a:ahLst/>
              <a:cxnLst/>
              <a:rect l="l" t="t" r="r" b="b"/>
              <a:pathLst>
                <a:path w="716088" h="533400">
                  <a:moveTo>
                    <a:pt x="239386" y="166418"/>
                  </a:moveTo>
                  <a:lnTo>
                    <a:pt x="716088" y="166418"/>
                  </a:lnTo>
                  <a:lnTo>
                    <a:pt x="716088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650" y="107950"/>
              <a:ext cx="595438" cy="260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8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32068" y="1864958"/>
            <a:ext cx="4110693" cy="4012058"/>
            <a:chOff x="0" y="0"/>
            <a:chExt cx="6128464" cy="5981412"/>
          </a:xfrm>
        </p:grpSpPr>
        <p:sp>
          <p:nvSpPr>
            <p:cNvPr id="12" name="Freeform 12"/>
            <p:cNvSpPr/>
            <p:nvPr/>
          </p:nvSpPr>
          <p:spPr>
            <a:xfrm>
              <a:off x="12700" y="12921"/>
              <a:ext cx="6103112" cy="5955528"/>
            </a:xfrm>
            <a:custGeom>
              <a:avLst/>
              <a:gdLst/>
              <a:ahLst/>
              <a:cxnLst/>
              <a:rect l="l" t="t" r="r" b="b"/>
              <a:pathLst>
                <a:path w="6103112" h="5955528">
                  <a:moveTo>
                    <a:pt x="0" y="2977829"/>
                  </a:moveTo>
                  <a:cubicBezTo>
                    <a:pt x="0" y="1333214"/>
                    <a:pt x="1366266" y="0"/>
                    <a:pt x="3051556" y="0"/>
                  </a:cubicBezTo>
                  <a:cubicBezTo>
                    <a:pt x="4736846" y="0"/>
                    <a:pt x="6103112" y="1333214"/>
                    <a:pt x="6103112" y="2977829"/>
                  </a:cubicBezTo>
                  <a:cubicBezTo>
                    <a:pt x="6103112" y="4622445"/>
                    <a:pt x="4736846" y="5955528"/>
                    <a:pt x="3051556" y="5955528"/>
                  </a:cubicBezTo>
                  <a:cubicBezTo>
                    <a:pt x="1366266" y="5955528"/>
                    <a:pt x="0" y="4622315"/>
                    <a:pt x="0" y="2977829"/>
                  </a:cubicBezTo>
                  <a:close/>
                </a:path>
              </a:pathLst>
            </a:custGeom>
            <a:solidFill>
              <a:srgbClr val="8AA2B6">
                <a:alpha val="8078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6128512" cy="5981371"/>
            </a:xfrm>
            <a:custGeom>
              <a:avLst/>
              <a:gdLst/>
              <a:ahLst/>
              <a:cxnLst/>
              <a:rect l="l" t="t" r="r" b="b"/>
              <a:pathLst>
                <a:path w="6128512" h="5981371">
                  <a:moveTo>
                    <a:pt x="0" y="2990750"/>
                  </a:moveTo>
                  <a:cubicBezTo>
                    <a:pt x="0" y="1338511"/>
                    <a:pt x="1372362" y="0"/>
                    <a:pt x="3064256" y="0"/>
                  </a:cubicBezTo>
                  <a:lnTo>
                    <a:pt x="3064256" y="12921"/>
                  </a:lnTo>
                  <a:lnTo>
                    <a:pt x="3064256" y="0"/>
                  </a:lnTo>
                  <a:cubicBezTo>
                    <a:pt x="4756023" y="0"/>
                    <a:pt x="6128512" y="1338511"/>
                    <a:pt x="6128512" y="2990750"/>
                  </a:cubicBezTo>
                  <a:cubicBezTo>
                    <a:pt x="6128512" y="4642989"/>
                    <a:pt x="4756023" y="5981371"/>
                    <a:pt x="3064256" y="5981371"/>
                  </a:cubicBezTo>
                  <a:lnTo>
                    <a:pt x="3064256" y="5968449"/>
                  </a:lnTo>
                  <a:lnTo>
                    <a:pt x="3064256" y="5981371"/>
                  </a:lnTo>
                  <a:cubicBezTo>
                    <a:pt x="1372362" y="5981371"/>
                    <a:pt x="0" y="4642989"/>
                    <a:pt x="0" y="2990750"/>
                  </a:cubicBezTo>
                  <a:lnTo>
                    <a:pt x="12700" y="2990750"/>
                  </a:lnTo>
                  <a:lnTo>
                    <a:pt x="23368" y="2997727"/>
                  </a:lnTo>
                  <a:cubicBezTo>
                    <a:pt x="20320" y="3002508"/>
                    <a:pt x="14478" y="3004705"/>
                    <a:pt x="9144" y="3003154"/>
                  </a:cubicBezTo>
                  <a:cubicBezTo>
                    <a:pt x="3810" y="3001604"/>
                    <a:pt x="0" y="2996435"/>
                    <a:pt x="0" y="2990750"/>
                  </a:cubicBezTo>
                  <a:moveTo>
                    <a:pt x="25400" y="2990750"/>
                  </a:moveTo>
                  <a:lnTo>
                    <a:pt x="12700" y="2990750"/>
                  </a:lnTo>
                  <a:lnTo>
                    <a:pt x="2032" y="2983773"/>
                  </a:lnTo>
                  <a:cubicBezTo>
                    <a:pt x="5080" y="2978992"/>
                    <a:pt x="10922" y="2976795"/>
                    <a:pt x="16256" y="2978346"/>
                  </a:cubicBezTo>
                  <a:cubicBezTo>
                    <a:pt x="21590" y="2979896"/>
                    <a:pt x="25400" y="2985065"/>
                    <a:pt x="25400" y="2990750"/>
                  </a:cubicBezTo>
                  <a:cubicBezTo>
                    <a:pt x="25400" y="4627612"/>
                    <a:pt x="1385443" y="5955528"/>
                    <a:pt x="3064256" y="5955528"/>
                  </a:cubicBezTo>
                  <a:cubicBezTo>
                    <a:pt x="4743069" y="5955528"/>
                    <a:pt x="6103112" y="4627612"/>
                    <a:pt x="6103112" y="2990750"/>
                  </a:cubicBezTo>
                  <a:lnTo>
                    <a:pt x="6115812" y="2990750"/>
                  </a:lnTo>
                  <a:lnTo>
                    <a:pt x="6103112" y="2990750"/>
                  </a:lnTo>
                  <a:cubicBezTo>
                    <a:pt x="6103112" y="1353758"/>
                    <a:pt x="4743069" y="25842"/>
                    <a:pt x="3064256" y="25842"/>
                  </a:cubicBezTo>
                  <a:lnTo>
                    <a:pt x="3064256" y="12921"/>
                  </a:lnTo>
                  <a:lnTo>
                    <a:pt x="3064256" y="25842"/>
                  </a:lnTo>
                  <a:cubicBezTo>
                    <a:pt x="1385443" y="25842"/>
                    <a:pt x="25400" y="1353758"/>
                    <a:pt x="25400" y="2990750"/>
                  </a:cubicBezTo>
                  <a:close/>
                </a:path>
              </a:pathLst>
            </a:custGeom>
            <a:solidFill>
              <a:srgbClr val="37768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22341" y="2159804"/>
            <a:ext cx="3130146" cy="3449955"/>
            <a:chOff x="0" y="0"/>
            <a:chExt cx="4254511" cy="46891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54511" cy="4689197"/>
            </a:xfrm>
            <a:custGeom>
              <a:avLst/>
              <a:gdLst/>
              <a:ahLst/>
              <a:cxnLst/>
              <a:rect l="l" t="t" r="r" b="b"/>
              <a:pathLst>
                <a:path w="4254511" h="4689197">
                  <a:moveTo>
                    <a:pt x="0" y="0"/>
                  </a:moveTo>
                  <a:lnTo>
                    <a:pt x="4254511" y="0"/>
                  </a:lnTo>
                  <a:lnTo>
                    <a:pt x="4254511" y="4689197"/>
                  </a:lnTo>
                  <a:lnTo>
                    <a:pt x="0" y="46891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254511" cy="4679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56"/>
                </a:lnSpc>
              </a:pPr>
              <a:r>
                <a:rPr lang="en-US" sz="3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Kermany et al. (2018) OCT dataset with four classes: CNV, DME, DRUSEN, NORMAL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73537" y="1843801"/>
            <a:ext cx="4082395" cy="4081961"/>
            <a:chOff x="0" y="0"/>
            <a:chExt cx="5443194" cy="544261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443194" cy="5442615"/>
              <a:chOff x="0" y="0"/>
              <a:chExt cx="6437192" cy="643650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2700" y="12700"/>
                <a:ext cx="6411849" cy="6411087"/>
              </a:xfrm>
              <a:custGeom>
                <a:avLst/>
                <a:gdLst/>
                <a:ahLst/>
                <a:cxnLst/>
                <a:rect l="l" t="t" r="r" b="b"/>
                <a:pathLst>
                  <a:path w="6411849" h="6411087">
                    <a:moveTo>
                      <a:pt x="0" y="3205607"/>
                    </a:moveTo>
                    <a:cubicBezTo>
                      <a:pt x="0" y="1435227"/>
                      <a:pt x="1435354" y="0"/>
                      <a:pt x="3205861" y="0"/>
                    </a:cubicBezTo>
                    <a:cubicBezTo>
                      <a:pt x="4976368" y="0"/>
                      <a:pt x="6411849" y="1435227"/>
                      <a:pt x="6411849" y="3205607"/>
                    </a:cubicBezTo>
                    <a:cubicBezTo>
                      <a:pt x="6411849" y="4975987"/>
                      <a:pt x="4976495" y="6411087"/>
                      <a:pt x="3205861" y="6411087"/>
                    </a:cubicBezTo>
                    <a:cubicBezTo>
                      <a:pt x="1435227" y="6411087"/>
                      <a:pt x="0" y="4975987"/>
                      <a:pt x="0" y="3205607"/>
                    </a:cubicBezTo>
                    <a:close/>
                  </a:path>
                </a:pathLst>
              </a:custGeom>
              <a:solidFill>
                <a:srgbClr val="D9D9D9">
                  <a:alpha val="8078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0" y="0"/>
                <a:ext cx="6437249" cy="6436487"/>
              </a:xfrm>
              <a:custGeom>
                <a:avLst/>
                <a:gdLst/>
                <a:ahLst/>
                <a:cxnLst/>
                <a:rect l="l" t="t" r="r" b="b"/>
                <a:pathLst>
                  <a:path w="6437249" h="6436487">
                    <a:moveTo>
                      <a:pt x="0" y="3218307"/>
                    </a:moveTo>
                    <a:cubicBezTo>
                      <a:pt x="0" y="1440815"/>
                      <a:pt x="1441069" y="0"/>
                      <a:pt x="3218561" y="0"/>
                    </a:cubicBezTo>
                    <a:lnTo>
                      <a:pt x="3218561" y="12700"/>
                    </a:lnTo>
                    <a:lnTo>
                      <a:pt x="3218561" y="0"/>
                    </a:lnTo>
                    <a:cubicBezTo>
                      <a:pt x="4996180" y="0"/>
                      <a:pt x="6437249" y="1440815"/>
                      <a:pt x="6437249" y="3218307"/>
                    </a:cubicBezTo>
                    <a:cubicBezTo>
                      <a:pt x="6437249" y="4995799"/>
                      <a:pt x="4996180" y="6436487"/>
                      <a:pt x="3218561" y="6436487"/>
                    </a:cubicBezTo>
                    <a:lnTo>
                      <a:pt x="3218561" y="6423787"/>
                    </a:lnTo>
                    <a:lnTo>
                      <a:pt x="3218561" y="6436487"/>
                    </a:lnTo>
                    <a:cubicBezTo>
                      <a:pt x="1441069" y="6436487"/>
                      <a:pt x="0" y="4995672"/>
                      <a:pt x="0" y="3218307"/>
                    </a:cubicBezTo>
                    <a:lnTo>
                      <a:pt x="12700" y="3218307"/>
                    </a:lnTo>
                    <a:lnTo>
                      <a:pt x="23368" y="3225165"/>
                    </a:lnTo>
                    <a:cubicBezTo>
                      <a:pt x="20320" y="3229864"/>
                      <a:pt x="14478" y="3232023"/>
                      <a:pt x="9144" y="3230499"/>
                    </a:cubicBezTo>
                    <a:cubicBezTo>
                      <a:pt x="3810" y="3228975"/>
                      <a:pt x="0" y="3223895"/>
                      <a:pt x="0" y="3218307"/>
                    </a:cubicBezTo>
                    <a:moveTo>
                      <a:pt x="25400" y="3218307"/>
                    </a:moveTo>
                    <a:lnTo>
                      <a:pt x="12700" y="3218307"/>
                    </a:lnTo>
                    <a:lnTo>
                      <a:pt x="2032" y="3211449"/>
                    </a:lnTo>
                    <a:cubicBezTo>
                      <a:pt x="5080" y="3206750"/>
                      <a:pt x="10922" y="3204591"/>
                      <a:pt x="16256" y="3206115"/>
                    </a:cubicBezTo>
                    <a:cubicBezTo>
                      <a:pt x="21590" y="3207639"/>
                      <a:pt x="25400" y="3212719"/>
                      <a:pt x="25400" y="3218307"/>
                    </a:cubicBezTo>
                    <a:cubicBezTo>
                      <a:pt x="25400" y="4981575"/>
                      <a:pt x="1455039" y="6411087"/>
                      <a:pt x="3218561" y="6411087"/>
                    </a:cubicBezTo>
                    <a:cubicBezTo>
                      <a:pt x="4982083" y="6411087"/>
                      <a:pt x="6411849" y="4981575"/>
                      <a:pt x="6411849" y="3218307"/>
                    </a:cubicBezTo>
                    <a:lnTo>
                      <a:pt x="6424549" y="3218307"/>
                    </a:lnTo>
                    <a:lnTo>
                      <a:pt x="6411849" y="3218307"/>
                    </a:lnTo>
                    <a:cubicBezTo>
                      <a:pt x="6411849" y="1454912"/>
                      <a:pt x="4982210" y="25400"/>
                      <a:pt x="3218561" y="25400"/>
                    </a:cubicBezTo>
                    <a:lnTo>
                      <a:pt x="3218561" y="12700"/>
                    </a:lnTo>
                    <a:lnTo>
                      <a:pt x="3218561" y="25400"/>
                    </a:lnTo>
                    <a:cubicBezTo>
                      <a:pt x="1455039" y="25400"/>
                      <a:pt x="25400" y="1454912"/>
                      <a:pt x="25400" y="3218307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" y="421338"/>
              <a:ext cx="4860750" cy="4599940"/>
              <a:chOff x="0" y="0"/>
              <a:chExt cx="4865481" cy="460441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865481" cy="4604418"/>
              </a:xfrm>
              <a:custGeom>
                <a:avLst/>
                <a:gdLst/>
                <a:ahLst/>
                <a:cxnLst/>
                <a:rect l="l" t="t" r="r" b="b"/>
                <a:pathLst>
                  <a:path w="4865481" h="4604418">
                    <a:moveTo>
                      <a:pt x="0" y="0"/>
                    </a:moveTo>
                    <a:lnTo>
                      <a:pt x="4865481" y="0"/>
                    </a:lnTo>
                    <a:lnTo>
                      <a:pt x="4865481" y="4604418"/>
                    </a:lnTo>
                    <a:lnTo>
                      <a:pt x="0" y="460441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9525"/>
                <a:ext cx="4865481" cy="459489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456"/>
                  </a:lnSpc>
                </a:pPr>
                <a:r>
                  <a:rPr lang="en-US" sz="3200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EVALUATION METRICS</a:t>
                </a:r>
              </a:p>
              <a:p>
                <a:pPr algn="ctr">
                  <a:lnSpc>
                    <a:spcPts val="2916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Accuracy, Precision and Recall, AUC, Confusion matrix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967017" y="1864958"/>
            <a:ext cx="4110693" cy="4012058"/>
            <a:chOff x="0" y="0"/>
            <a:chExt cx="6128464" cy="5981412"/>
          </a:xfrm>
        </p:grpSpPr>
        <p:sp>
          <p:nvSpPr>
            <p:cNvPr id="25" name="Freeform 25"/>
            <p:cNvSpPr/>
            <p:nvPr/>
          </p:nvSpPr>
          <p:spPr>
            <a:xfrm>
              <a:off x="12700" y="12921"/>
              <a:ext cx="6103112" cy="5955528"/>
            </a:xfrm>
            <a:custGeom>
              <a:avLst/>
              <a:gdLst/>
              <a:ahLst/>
              <a:cxnLst/>
              <a:rect l="l" t="t" r="r" b="b"/>
              <a:pathLst>
                <a:path w="6103112" h="5955528">
                  <a:moveTo>
                    <a:pt x="0" y="2977829"/>
                  </a:moveTo>
                  <a:cubicBezTo>
                    <a:pt x="0" y="1333214"/>
                    <a:pt x="1366266" y="0"/>
                    <a:pt x="3051556" y="0"/>
                  </a:cubicBezTo>
                  <a:cubicBezTo>
                    <a:pt x="4736846" y="0"/>
                    <a:pt x="6103112" y="1333214"/>
                    <a:pt x="6103112" y="2977829"/>
                  </a:cubicBezTo>
                  <a:cubicBezTo>
                    <a:pt x="6103112" y="4622445"/>
                    <a:pt x="4736846" y="5955528"/>
                    <a:pt x="3051556" y="5955528"/>
                  </a:cubicBezTo>
                  <a:cubicBezTo>
                    <a:pt x="1366266" y="5955528"/>
                    <a:pt x="0" y="4622315"/>
                    <a:pt x="0" y="2977829"/>
                  </a:cubicBezTo>
                  <a:close/>
                </a:path>
              </a:pathLst>
            </a:custGeom>
            <a:solidFill>
              <a:srgbClr val="6C98B1">
                <a:alpha val="8078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6128512" cy="5981371"/>
            </a:xfrm>
            <a:custGeom>
              <a:avLst/>
              <a:gdLst/>
              <a:ahLst/>
              <a:cxnLst/>
              <a:rect l="l" t="t" r="r" b="b"/>
              <a:pathLst>
                <a:path w="6128512" h="5981371">
                  <a:moveTo>
                    <a:pt x="0" y="2990750"/>
                  </a:moveTo>
                  <a:cubicBezTo>
                    <a:pt x="0" y="1338511"/>
                    <a:pt x="1372362" y="0"/>
                    <a:pt x="3064256" y="0"/>
                  </a:cubicBezTo>
                  <a:lnTo>
                    <a:pt x="3064256" y="12921"/>
                  </a:lnTo>
                  <a:lnTo>
                    <a:pt x="3064256" y="0"/>
                  </a:lnTo>
                  <a:cubicBezTo>
                    <a:pt x="4756023" y="0"/>
                    <a:pt x="6128512" y="1338511"/>
                    <a:pt x="6128512" y="2990750"/>
                  </a:cubicBezTo>
                  <a:cubicBezTo>
                    <a:pt x="6128512" y="4642989"/>
                    <a:pt x="4756023" y="5981371"/>
                    <a:pt x="3064256" y="5981371"/>
                  </a:cubicBezTo>
                  <a:lnTo>
                    <a:pt x="3064256" y="5968449"/>
                  </a:lnTo>
                  <a:lnTo>
                    <a:pt x="3064256" y="5981371"/>
                  </a:lnTo>
                  <a:cubicBezTo>
                    <a:pt x="1372362" y="5981371"/>
                    <a:pt x="0" y="4642989"/>
                    <a:pt x="0" y="2990750"/>
                  </a:cubicBezTo>
                  <a:lnTo>
                    <a:pt x="12700" y="2990750"/>
                  </a:lnTo>
                  <a:lnTo>
                    <a:pt x="23368" y="2997727"/>
                  </a:lnTo>
                  <a:cubicBezTo>
                    <a:pt x="20320" y="3002508"/>
                    <a:pt x="14478" y="3004705"/>
                    <a:pt x="9144" y="3003154"/>
                  </a:cubicBezTo>
                  <a:cubicBezTo>
                    <a:pt x="3810" y="3001604"/>
                    <a:pt x="0" y="2996435"/>
                    <a:pt x="0" y="2990750"/>
                  </a:cubicBezTo>
                  <a:moveTo>
                    <a:pt x="25400" y="2990750"/>
                  </a:moveTo>
                  <a:lnTo>
                    <a:pt x="12700" y="2990750"/>
                  </a:lnTo>
                  <a:lnTo>
                    <a:pt x="2032" y="2983773"/>
                  </a:lnTo>
                  <a:cubicBezTo>
                    <a:pt x="5080" y="2978992"/>
                    <a:pt x="10922" y="2976795"/>
                    <a:pt x="16256" y="2978346"/>
                  </a:cubicBezTo>
                  <a:cubicBezTo>
                    <a:pt x="21590" y="2979896"/>
                    <a:pt x="25400" y="2985065"/>
                    <a:pt x="25400" y="2990750"/>
                  </a:cubicBezTo>
                  <a:cubicBezTo>
                    <a:pt x="25400" y="4627612"/>
                    <a:pt x="1385443" y="5955528"/>
                    <a:pt x="3064256" y="5955528"/>
                  </a:cubicBezTo>
                  <a:cubicBezTo>
                    <a:pt x="4743069" y="5955528"/>
                    <a:pt x="6103112" y="4627612"/>
                    <a:pt x="6103112" y="2990750"/>
                  </a:cubicBezTo>
                  <a:lnTo>
                    <a:pt x="6115812" y="2990750"/>
                  </a:lnTo>
                  <a:lnTo>
                    <a:pt x="6103112" y="2990750"/>
                  </a:lnTo>
                  <a:cubicBezTo>
                    <a:pt x="6103112" y="1353758"/>
                    <a:pt x="4743069" y="25842"/>
                    <a:pt x="3064256" y="25842"/>
                  </a:cubicBezTo>
                  <a:lnTo>
                    <a:pt x="3064256" y="12921"/>
                  </a:lnTo>
                  <a:lnTo>
                    <a:pt x="3064256" y="25842"/>
                  </a:lnTo>
                  <a:cubicBezTo>
                    <a:pt x="1385443" y="25842"/>
                    <a:pt x="25400" y="1353758"/>
                    <a:pt x="25400" y="2990750"/>
                  </a:cubicBez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927082" y="5877016"/>
            <a:ext cx="4051685" cy="4051254"/>
            <a:chOff x="0" y="0"/>
            <a:chExt cx="6437192" cy="6436508"/>
          </a:xfrm>
        </p:grpSpPr>
        <p:sp>
          <p:nvSpPr>
            <p:cNvPr id="28" name="Freeform 28"/>
            <p:cNvSpPr/>
            <p:nvPr/>
          </p:nvSpPr>
          <p:spPr>
            <a:xfrm>
              <a:off x="12700" y="12700"/>
              <a:ext cx="6411849" cy="6411087"/>
            </a:xfrm>
            <a:custGeom>
              <a:avLst/>
              <a:gdLst/>
              <a:ahLst/>
              <a:cxnLst/>
              <a:rect l="l" t="t" r="r" b="b"/>
              <a:pathLst>
                <a:path w="6411849" h="6411087">
                  <a:moveTo>
                    <a:pt x="0" y="3205607"/>
                  </a:moveTo>
                  <a:cubicBezTo>
                    <a:pt x="0" y="1435227"/>
                    <a:pt x="1435354" y="0"/>
                    <a:pt x="3205861" y="0"/>
                  </a:cubicBezTo>
                  <a:cubicBezTo>
                    <a:pt x="4976368" y="0"/>
                    <a:pt x="6411849" y="1435227"/>
                    <a:pt x="6411849" y="3205607"/>
                  </a:cubicBezTo>
                  <a:cubicBezTo>
                    <a:pt x="6411849" y="4975987"/>
                    <a:pt x="4976495" y="6411087"/>
                    <a:pt x="3205861" y="6411087"/>
                  </a:cubicBezTo>
                  <a:cubicBezTo>
                    <a:pt x="1435227" y="6411087"/>
                    <a:pt x="0" y="4975987"/>
                    <a:pt x="0" y="3205607"/>
                  </a:cubicBezTo>
                  <a:close/>
                </a:path>
              </a:pathLst>
            </a:custGeom>
            <a:solidFill>
              <a:srgbClr val="377684">
                <a:alpha val="8078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6437249" cy="6436487"/>
            </a:xfrm>
            <a:custGeom>
              <a:avLst/>
              <a:gdLst/>
              <a:ahLst/>
              <a:cxnLst/>
              <a:rect l="l" t="t" r="r" b="b"/>
              <a:pathLst>
                <a:path w="6437249" h="6436487">
                  <a:moveTo>
                    <a:pt x="0" y="3218307"/>
                  </a:moveTo>
                  <a:cubicBezTo>
                    <a:pt x="0" y="1440815"/>
                    <a:pt x="1441069" y="0"/>
                    <a:pt x="3218561" y="0"/>
                  </a:cubicBezTo>
                  <a:lnTo>
                    <a:pt x="3218561" y="12700"/>
                  </a:lnTo>
                  <a:lnTo>
                    <a:pt x="3218561" y="0"/>
                  </a:lnTo>
                  <a:cubicBezTo>
                    <a:pt x="4996180" y="0"/>
                    <a:pt x="6437249" y="1440815"/>
                    <a:pt x="6437249" y="3218307"/>
                  </a:cubicBezTo>
                  <a:cubicBezTo>
                    <a:pt x="6437249" y="4995799"/>
                    <a:pt x="4996180" y="6436487"/>
                    <a:pt x="3218561" y="6436487"/>
                  </a:cubicBezTo>
                  <a:lnTo>
                    <a:pt x="3218561" y="6423787"/>
                  </a:lnTo>
                  <a:lnTo>
                    <a:pt x="3218561" y="6436487"/>
                  </a:lnTo>
                  <a:cubicBezTo>
                    <a:pt x="1441069" y="6436487"/>
                    <a:pt x="0" y="4995672"/>
                    <a:pt x="0" y="3218307"/>
                  </a:cubicBezTo>
                  <a:lnTo>
                    <a:pt x="12700" y="3218307"/>
                  </a:lnTo>
                  <a:lnTo>
                    <a:pt x="23368" y="3225165"/>
                  </a:lnTo>
                  <a:cubicBezTo>
                    <a:pt x="20320" y="3229864"/>
                    <a:pt x="14478" y="3232023"/>
                    <a:pt x="9144" y="3230499"/>
                  </a:cubicBezTo>
                  <a:cubicBezTo>
                    <a:pt x="3810" y="3228975"/>
                    <a:pt x="0" y="3223895"/>
                    <a:pt x="0" y="3218307"/>
                  </a:cubicBezTo>
                  <a:moveTo>
                    <a:pt x="25400" y="3218307"/>
                  </a:moveTo>
                  <a:lnTo>
                    <a:pt x="12700" y="3218307"/>
                  </a:lnTo>
                  <a:lnTo>
                    <a:pt x="2032" y="3211449"/>
                  </a:lnTo>
                  <a:cubicBezTo>
                    <a:pt x="5080" y="3206750"/>
                    <a:pt x="10922" y="3204591"/>
                    <a:pt x="16256" y="3206115"/>
                  </a:cubicBezTo>
                  <a:cubicBezTo>
                    <a:pt x="21590" y="3207639"/>
                    <a:pt x="25400" y="3212719"/>
                    <a:pt x="25400" y="3218307"/>
                  </a:cubicBezTo>
                  <a:cubicBezTo>
                    <a:pt x="25400" y="4981575"/>
                    <a:pt x="1455039" y="6411087"/>
                    <a:pt x="3218561" y="6411087"/>
                  </a:cubicBezTo>
                  <a:cubicBezTo>
                    <a:pt x="4982083" y="6411087"/>
                    <a:pt x="6411849" y="4981575"/>
                    <a:pt x="6411849" y="3218307"/>
                  </a:cubicBezTo>
                  <a:lnTo>
                    <a:pt x="6424549" y="3218307"/>
                  </a:lnTo>
                  <a:lnTo>
                    <a:pt x="6411849" y="3218307"/>
                  </a:lnTo>
                  <a:cubicBezTo>
                    <a:pt x="6411849" y="1454912"/>
                    <a:pt x="4982210" y="25400"/>
                    <a:pt x="3218561" y="25400"/>
                  </a:cubicBezTo>
                  <a:lnTo>
                    <a:pt x="3218561" y="12700"/>
                  </a:lnTo>
                  <a:lnTo>
                    <a:pt x="3218561" y="25400"/>
                  </a:lnTo>
                  <a:cubicBezTo>
                    <a:pt x="1455039" y="25400"/>
                    <a:pt x="25400" y="1454912"/>
                    <a:pt x="25400" y="3218307"/>
                  </a:cubicBezTo>
                  <a:close/>
                </a:path>
              </a:pathLst>
            </a:custGeom>
            <a:solidFill>
              <a:srgbClr val="37768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81712" y="2002610"/>
            <a:ext cx="3681304" cy="3483779"/>
            <a:chOff x="0" y="0"/>
            <a:chExt cx="4865481" cy="46044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65481" cy="4604418"/>
            </a:xfrm>
            <a:custGeom>
              <a:avLst/>
              <a:gdLst/>
              <a:ahLst/>
              <a:cxnLst/>
              <a:rect l="l" t="t" r="r" b="b"/>
              <a:pathLst>
                <a:path w="4865481" h="4604418">
                  <a:moveTo>
                    <a:pt x="0" y="0"/>
                  </a:moveTo>
                  <a:lnTo>
                    <a:pt x="4865481" y="0"/>
                  </a:lnTo>
                  <a:lnTo>
                    <a:pt x="4865481" y="4604418"/>
                  </a:lnTo>
                  <a:lnTo>
                    <a:pt x="0" y="4604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4865481" cy="45948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56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PRE-</a:t>
              </a:r>
            </a:p>
            <a:p>
              <a:pPr algn="ctr">
                <a:lnSpc>
                  <a:spcPts val="3456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PROCESSING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Grayscale conversion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Resize 224×224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Augmentation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Normalization [0–1]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94346" y="6103387"/>
            <a:ext cx="3517158" cy="3598512"/>
            <a:chOff x="0" y="0"/>
            <a:chExt cx="4648533" cy="475605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48533" cy="4756057"/>
            </a:xfrm>
            <a:custGeom>
              <a:avLst/>
              <a:gdLst/>
              <a:ahLst/>
              <a:cxnLst/>
              <a:rect l="l" t="t" r="r" b="b"/>
              <a:pathLst>
                <a:path w="4648533" h="4756057">
                  <a:moveTo>
                    <a:pt x="0" y="0"/>
                  </a:moveTo>
                  <a:lnTo>
                    <a:pt x="4648533" y="0"/>
                  </a:lnTo>
                  <a:lnTo>
                    <a:pt x="4648533" y="4756057"/>
                  </a:lnTo>
                  <a:lnTo>
                    <a:pt x="0" y="47560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580" y="1231088"/>
              <a:ext cx="3799881" cy="2636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56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 DETAILS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Images Distribution: CNV(26,218), DME(8,118), DRUSEN(6,206), NORMAL(35,973)</a:t>
              </a:r>
            </a:p>
            <a:p>
              <a:pPr algn="ctr">
                <a:lnSpc>
                  <a:spcPts val="2916"/>
                </a:lnSpc>
              </a:pPr>
              <a:r>
                <a:rPr lang="en-US" sz="27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Val Test Split: 7:2:1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grpSp>
        <p:nvGrpSpPr>
          <p:cNvPr id="37" name="Group 37"/>
          <p:cNvGrpSpPr/>
          <p:nvPr/>
        </p:nvGrpSpPr>
        <p:grpSpPr>
          <a:xfrm rot="7672109">
            <a:off x="6914596" y="5421430"/>
            <a:ext cx="1063209" cy="875584"/>
            <a:chOff x="0" y="0"/>
            <a:chExt cx="647700" cy="533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50" y="107950"/>
              <a:ext cx="527050" cy="260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8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 rot="7627831">
            <a:off x="13317884" y="5398274"/>
            <a:ext cx="1192767" cy="960563"/>
            <a:chOff x="0" y="0"/>
            <a:chExt cx="595020" cy="4791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95020" cy="479183"/>
            </a:xfrm>
            <a:custGeom>
              <a:avLst/>
              <a:gdLst/>
              <a:ahLst/>
              <a:cxnLst/>
              <a:rect l="l" t="t" r="r" b="b"/>
              <a:pathLst>
                <a:path w="595020" h="479183">
                  <a:moveTo>
                    <a:pt x="239386" y="166067"/>
                  </a:moveTo>
                  <a:lnTo>
                    <a:pt x="595020" y="166067"/>
                  </a:lnTo>
                  <a:lnTo>
                    <a:pt x="595020" y="313088"/>
                  </a:lnTo>
                  <a:lnTo>
                    <a:pt x="239373" y="313088"/>
                  </a:lnTo>
                  <a:lnTo>
                    <a:pt x="302255" y="479183"/>
                  </a:lnTo>
                  <a:lnTo>
                    <a:pt x="0" y="239592"/>
                  </a:lnTo>
                  <a:lnTo>
                    <a:pt x="302255" y="0"/>
                  </a:lnTo>
                  <a:lnTo>
                    <a:pt x="239386" y="166067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0650" y="107950"/>
              <a:ext cx="474370" cy="206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8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 rot="-7696520">
            <a:off x="10126816" y="5392055"/>
            <a:ext cx="1134808" cy="875286"/>
            <a:chOff x="0" y="0"/>
            <a:chExt cx="691552" cy="533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1552" cy="533400"/>
            </a:xfrm>
            <a:custGeom>
              <a:avLst/>
              <a:gdLst/>
              <a:ahLst/>
              <a:cxnLst/>
              <a:rect l="l" t="t" r="r" b="b"/>
              <a:pathLst>
                <a:path w="691552" h="533400">
                  <a:moveTo>
                    <a:pt x="239386" y="166418"/>
                  </a:moveTo>
                  <a:lnTo>
                    <a:pt x="691552" y="166418"/>
                  </a:lnTo>
                  <a:lnTo>
                    <a:pt x="691552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0650" y="107950"/>
              <a:ext cx="570902" cy="260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8"/>
                </a:lnSpc>
              </a:pPr>
              <a:endParaRPr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13E5AA1-5016-77CB-3266-9C4011A19872}"/>
              </a:ext>
            </a:extLst>
          </p:cNvPr>
          <p:cNvSpPr txBox="1"/>
          <p:nvPr/>
        </p:nvSpPr>
        <p:spPr>
          <a:xfrm>
            <a:off x="640587" y="419254"/>
            <a:ext cx="9144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14450" y="1362609"/>
            <a:ext cx="12059100" cy="8230336"/>
          </a:xfrm>
          <a:custGeom>
            <a:avLst/>
            <a:gdLst/>
            <a:ahLst/>
            <a:cxnLst/>
            <a:rect l="l" t="t" r="r" b="b"/>
            <a:pathLst>
              <a:path w="12059100" h="8230336">
                <a:moveTo>
                  <a:pt x="0" y="0"/>
                </a:moveTo>
                <a:lnTo>
                  <a:pt x="12059100" y="0"/>
                </a:lnTo>
                <a:lnTo>
                  <a:pt x="12059100" y="8230336"/>
                </a:lnTo>
                <a:lnTo>
                  <a:pt x="0" y="823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082641" y="9611995"/>
            <a:ext cx="14122718" cy="66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2399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Representation of Samples across the Retinal OCT Dataset Classes: CNV, DME, DRUSEN, and NORMAL</a:t>
            </a:r>
          </a:p>
          <a:p>
            <a:pPr algn="ctr">
              <a:lnSpc>
                <a:spcPts val="2591"/>
              </a:lnSpc>
              <a:spcBef>
                <a:spcPct val="0"/>
              </a:spcBef>
            </a:pPr>
            <a:endParaRPr lang="en-US" sz="2399" spc="-1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87856-2250-0D98-ECDD-B1013041D54A}"/>
              </a:ext>
            </a:extLst>
          </p:cNvPr>
          <p:cNvSpPr txBox="1"/>
          <p:nvPr/>
        </p:nvSpPr>
        <p:spPr>
          <a:xfrm>
            <a:off x="609600" y="419100"/>
            <a:ext cx="9144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7120" y="8943346"/>
            <a:ext cx="616046" cy="410826"/>
          </a:xfrm>
          <a:custGeom>
            <a:avLst/>
            <a:gdLst/>
            <a:ahLst/>
            <a:cxnLst/>
            <a:rect l="l" t="t" r="r" b="b"/>
            <a:pathLst>
              <a:path w="616046" h="410826">
                <a:moveTo>
                  <a:pt x="0" y="0"/>
                </a:moveTo>
                <a:lnTo>
                  <a:pt x="616046" y="0"/>
                </a:lnTo>
                <a:lnTo>
                  <a:pt x="616046" y="410825"/>
                </a:lnTo>
                <a:lnTo>
                  <a:pt x="0" y="410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5400000">
            <a:off x="139699" y="1308018"/>
            <a:ext cx="616046" cy="410826"/>
          </a:xfrm>
          <a:custGeom>
            <a:avLst/>
            <a:gdLst/>
            <a:ahLst/>
            <a:cxnLst/>
            <a:rect l="l" t="t" r="r" b="b"/>
            <a:pathLst>
              <a:path w="616046" h="410826">
                <a:moveTo>
                  <a:pt x="0" y="0"/>
                </a:moveTo>
                <a:lnTo>
                  <a:pt x="616046" y="0"/>
                </a:lnTo>
                <a:lnTo>
                  <a:pt x="616046" y="410826"/>
                </a:lnTo>
                <a:lnTo>
                  <a:pt x="0" y="410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689613" y="1784484"/>
            <a:ext cx="7569687" cy="7569687"/>
          </a:xfrm>
          <a:custGeom>
            <a:avLst/>
            <a:gdLst/>
            <a:ahLst/>
            <a:cxnLst/>
            <a:rect l="l" t="t" r="r" b="b"/>
            <a:pathLst>
              <a:path w="7569687" h="7569687">
                <a:moveTo>
                  <a:pt x="0" y="0"/>
                </a:moveTo>
                <a:lnTo>
                  <a:pt x="7569687" y="0"/>
                </a:lnTo>
                <a:lnTo>
                  <a:pt x="7569687" y="7569687"/>
                </a:lnTo>
                <a:lnTo>
                  <a:pt x="0" y="7569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71" r="-6840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28700" y="1784484"/>
            <a:ext cx="7569687" cy="7569687"/>
          </a:xfrm>
          <a:custGeom>
            <a:avLst/>
            <a:gdLst/>
            <a:ahLst/>
            <a:cxnLst/>
            <a:rect l="l" t="t" r="r" b="b"/>
            <a:pathLst>
              <a:path w="7569687" h="7569687">
                <a:moveTo>
                  <a:pt x="0" y="0"/>
                </a:moveTo>
                <a:lnTo>
                  <a:pt x="7569687" y="0"/>
                </a:lnTo>
                <a:lnTo>
                  <a:pt x="7569687" y="7569687"/>
                </a:lnTo>
                <a:lnTo>
                  <a:pt x="0" y="7569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41" r="-7483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61740" y="9428162"/>
            <a:ext cx="450360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399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3: Multi-Class Confusion Matrix by InceptionV3</a:t>
            </a:r>
          </a:p>
          <a:p>
            <a:pPr algn="ctr">
              <a:lnSpc>
                <a:spcPts val="2591"/>
              </a:lnSpc>
              <a:spcBef>
                <a:spcPct val="0"/>
              </a:spcBef>
            </a:pPr>
            <a:endParaRPr lang="en-US" sz="2399" spc="-1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222652" y="9428162"/>
            <a:ext cx="450360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399" spc="-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4: Multi-Class Confusion Matrix by MobileNetV2</a:t>
            </a:r>
          </a:p>
          <a:p>
            <a:pPr algn="ctr">
              <a:lnSpc>
                <a:spcPts val="2591"/>
              </a:lnSpc>
              <a:spcBef>
                <a:spcPct val="0"/>
              </a:spcBef>
            </a:pPr>
            <a:endParaRPr lang="en-US" sz="2399" spc="-1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12DE5-8DD6-0363-ADF0-E471793CD56C}"/>
              </a:ext>
            </a:extLst>
          </p:cNvPr>
          <p:cNvSpPr txBox="1"/>
          <p:nvPr/>
        </p:nvSpPr>
        <p:spPr>
          <a:xfrm>
            <a:off x="658051" y="469493"/>
            <a:ext cx="109728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0629" y="2057400"/>
            <a:ext cx="7375750" cy="7200900"/>
            <a:chOff x="0" y="0"/>
            <a:chExt cx="1942584" cy="18965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2585" cy="1896533"/>
            </a:xfrm>
            <a:custGeom>
              <a:avLst/>
              <a:gdLst/>
              <a:ahLst/>
              <a:cxnLst/>
              <a:rect l="l" t="t" r="r" b="b"/>
              <a:pathLst>
                <a:path w="1942585" h="1896533">
                  <a:moveTo>
                    <a:pt x="53532" y="0"/>
                  </a:moveTo>
                  <a:lnTo>
                    <a:pt x="1889053" y="0"/>
                  </a:lnTo>
                  <a:cubicBezTo>
                    <a:pt x="1903250" y="0"/>
                    <a:pt x="1916866" y="5640"/>
                    <a:pt x="1926905" y="15679"/>
                  </a:cubicBezTo>
                  <a:cubicBezTo>
                    <a:pt x="1936945" y="25718"/>
                    <a:pt x="1942585" y="39334"/>
                    <a:pt x="1942585" y="53532"/>
                  </a:cubicBezTo>
                  <a:lnTo>
                    <a:pt x="1942585" y="1843001"/>
                  </a:lnTo>
                  <a:cubicBezTo>
                    <a:pt x="1942585" y="1857199"/>
                    <a:pt x="1936945" y="1870815"/>
                    <a:pt x="1926905" y="1880854"/>
                  </a:cubicBezTo>
                  <a:cubicBezTo>
                    <a:pt x="1916866" y="1890893"/>
                    <a:pt x="1903250" y="1896533"/>
                    <a:pt x="1889053" y="1896533"/>
                  </a:cubicBezTo>
                  <a:lnTo>
                    <a:pt x="53532" y="1896533"/>
                  </a:lnTo>
                  <a:cubicBezTo>
                    <a:pt x="39334" y="1896533"/>
                    <a:pt x="25718" y="1890893"/>
                    <a:pt x="15679" y="1880854"/>
                  </a:cubicBezTo>
                  <a:cubicBezTo>
                    <a:pt x="5640" y="1870815"/>
                    <a:pt x="0" y="1857199"/>
                    <a:pt x="0" y="1843001"/>
                  </a:cubicBezTo>
                  <a:lnTo>
                    <a:pt x="0" y="53532"/>
                  </a:lnTo>
                  <a:cubicBezTo>
                    <a:pt x="0" y="39334"/>
                    <a:pt x="5640" y="25718"/>
                    <a:pt x="15679" y="15679"/>
                  </a:cubicBezTo>
                  <a:cubicBezTo>
                    <a:pt x="25718" y="5640"/>
                    <a:pt x="39334" y="0"/>
                    <a:pt x="53532" y="0"/>
                  </a:cubicBezTo>
                  <a:close/>
                </a:path>
              </a:pathLst>
            </a:custGeom>
            <a:solidFill>
              <a:srgbClr val="B8D7E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42584" cy="1953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27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31175" y="2057400"/>
            <a:ext cx="7375750" cy="7200900"/>
            <a:chOff x="0" y="0"/>
            <a:chExt cx="1942584" cy="18965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2585" cy="1896533"/>
            </a:xfrm>
            <a:custGeom>
              <a:avLst/>
              <a:gdLst/>
              <a:ahLst/>
              <a:cxnLst/>
              <a:rect l="l" t="t" r="r" b="b"/>
              <a:pathLst>
                <a:path w="1942585" h="1896533">
                  <a:moveTo>
                    <a:pt x="53532" y="0"/>
                  </a:moveTo>
                  <a:lnTo>
                    <a:pt x="1889053" y="0"/>
                  </a:lnTo>
                  <a:cubicBezTo>
                    <a:pt x="1903250" y="0"/>
                    <a:pt x="1916866" y="5640"/>
                    <a:pt x="1926905" y="15679"/>
                  </a:cubicBezTo>
                  <a:cubicBezTo>
                    <a:pt x="1936945" y="25718"/>
                    <a:pt x="1942585" y="39334"/>
                    <a:pt x="1942585" y="53532"/>
                  </a:cubicBezTo>
                  <a:lnTo>
                    <a:pt x="1942585" y="1843001"/>
                  </a:lnTo>
                  <a:cubicBezTo>
                    <a:pt x="1942585" y="1857199"/>
                    <a:pt x="1936945" y="1870815"/>
                    <a:pt x="1926905" y="1880854"/>
                  </a:cubicBezTo>
                  <a:cubicBezTo>
                    <a:pt x="1916866" y="1890893"/>
                    <a:pt x="1903250" y="1896533"/>
                    <a:pt x="1889053" y="1896533"/>
                  </a:cubicBezTo>
                  <a:lnTo>
                    <a:pt x="53532" y="1896533"/>
                  </a:lnTo>
                  <a:cubicBezTo>
                    <a:pt x="39334" y="1896533"/>
                    <a:pt x="25718" y="1890893"/>
                    <a:pt x="15679" y="1880854"/>
                  </a:cubicBezTo>
                  <a:cubicBezTo>
                    <a:pt x="5640" y="1870815"/>
                    <a:pt x="0" y="1857199"/>
                    <a:pt x="0" y="1843001"/>
                  </a:cubicBezTo>
                  <a:lnTo>
                    <a:pt x="0" y="53532"/>
                  </a:lnTo>
                  <a:cubicBezTo>
                    <a:pt x="0" y="39334"/>
                    <a:pt x="5640" y="25718"/>
                    <a:pt x="15679" y="15679"/>
                  </a:cubicBezTo>
                  <a:cubicBezTo>
                    <a:pt x="25718" y="5640"/>
                    <a:pt x="39334" y="0"/>
                    <a:pt x="53532" y="0"/>
                  </a:cubicBezTo>
                  <a:close/>
                </a:path>
              </a:pathLst>
            </a:custGeom>
            <a:solidFill>
              <a:srgbClr val="B8D7E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42584" cy="1953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858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070929" y="3416456"/>
            <a:ext cx="2042283" cy="2042283"/>
          </a:xfrm>
          <a:custGeom>
            <a:avLst/>
            <a:gdLst/>
            <a:ahLst/>
            <a:cxnLst/>
            <a:rect l="l" t="t" r="r" b="b"/>
            <a:pathLst>
              <a:path w="2042283" h="2042283">
                <a:moveTo>
                  <a:pt x="0" y="0"/>
                </a:moveTo>
                <a:lnTo>
                  <a:pt x="2042283" y="0"/>
                </a:lnTo>
                <a:lnTo>
                  <a:pt x="2042283" y="2042283"/>
                </a:lnTo>
                <a:lnTo>
                  <a:pt x="0" y="204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00400" y="2290406"/>
            <a:ext cx="3219855" cy="753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InceptionV3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48062" y="2290406"/>
            <a:ext cx="3341976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MobileNetV2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4334" y="3149667"/>
            <a:ext cx="4388945" cy="267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accuracy:</a:t>
            </a:r>
          </a:p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0.90 → 0.98+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accuracy:</a:t>
            </a:r>
          </a:p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0.94 → 0.97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02330" y="3149667"/>
            <a:ext cx="4006032" cy="267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accuracy:</a:t>
            </a:r>
          </a:p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0.88 → 0.97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accuracy:</a:t>
            </a:r>
          </a:p>
          <a:p>
            <a:pPr algn="l">
              <a:lnSpc>
                <a:spcPts val="4203"/>
              </a:lnSpc>
            </a:pPr>
            <a:r>
              <a:rPr lang="en-US" sz="30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0.90 → 0.96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347637" y="3416456"/>
            <a:ext cx="2042283" cy="2042283"/>
          </a:xfrm>
          <a:custGeom>
            <a:avLst/>
            <a:gdLst/>
            <a:ahLst/>
            <a:cxnLst/>
            <a:rect l="l" t="t" r="r" b="b"/>
            <a:pathLst>
              <a:path w="2042283" h="2042283">
                <a:moveTo>
                  <a:pt x="0" y="0"/>
                </a:moveTo>
                <a:lnTo>
                  <a:pt x="2042282" y="0"/>
                </a:lnTo>
                <a:lnTo>
                  <a:pt x="2042282" y="2042283"/>
                </a:lnTo>
                <a:lnTo>
                  <a:pt x="0" y="204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994834" y="4006433"/>
            <a:ext cx="2194473" cy="75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96.83%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71542" y="4006433"/>
            <a:ext cx="2194473" cy="75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sz="4300" b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95.05%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8558" y="6045200"/>
            <a:ext cx="6939892" cy="1609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03"/>
              </a:lnSpc>
              <a:spcBef>
                <a:spcPct val="0"/>
              </a:spcBef>
            </a:pPr>
            <a:r>
              <a:rPr lang="en-US" sz="3002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and consistent accuracy curves indicate excellent generalization with minimal risk of overfitting.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93084" y="7873933"/>
            <a:ext cx="2087338" cy="107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CNV:</a:t>
            </a:r>
            <a:r>
              <a:rPr lang="en-US" sz="3002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97% </a:t>
            </a:r>
          </a:p>
          <a:p>
            <a:pPr marL="0" lvl="1" indent="0" algn="l">
              <a:lnSpc>
                <a:spcPts val="4203"/>
              </a:lnSpc>
              <a:spcBef>
                <a:spcPct val="0"/>
              </a:spcBef>
            </a:pPr>
            <a:r>
              <a:rPr lang="en-US" sz="3002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DME: 94.9%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78504" y="7873933"/>
            <a:ext cx="2938305" cy="107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203"/>
              </a:lnSpc>
              <a:spcBef>
                <a:spcPct val="0"/>
              </a:spcBef>
            </a:pPr>
            <a:r>
              <a:rPr lang="en-US" sz="300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</a:t>
            </a:r>
            <a:r>
              <a:rPr lang="en-US" sz="3002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98.9% DRUSEN: 86.6%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49104" y="6311900"/>
            <a:ext cx="6939892" cy="1076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Slight fluctuations, but overall stable and high-performing model.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61677" y="7873933"/>
            <a:ext cx="2087338" cy="103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CNV:</a:t>
            </a:r>
            <a:r>
              <a:rPr lang="en-US" sz="3002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92.9% </a:t>
            </a:r>
          </a:p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DME: 94.1%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51615" y="7873933"/>
            <a:ext cx="2938305" cy="103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  <a:spcBef>
                <a:spcPct val="0"/>
              </a:spcBef>
            </a:pPr>
            <a:r>
              <a:rPr lang="en-US" sz="300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</a:t>
            </a:r>
            <a:r>
              <a:rPr lang="en-US" sz="3002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99% DRUSEN: 82.2%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AFB749-882D-2C4E-6769-749B0538A9DA}"/>
              </a:ext>
            </a:extLst>
          </p:cNvPr>
          <p:cNvSpPr txBox="1"/>
          <p:nvPr/>
        </p:nvSpPr>
        <p:spPr>
          <a:xfrm>
            <a:off x="629055" y="469493"/>
            <a:ext cx="115824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76747" y="2174186"/>
            <a:ext cx="1213450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1: Summary of Key OCT Classification Studies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798B3-9CE1-B927-8B3C-7D44606A1350}"/>
              </a:ext>
            </a:extLst>
          </p:cNvPr>
          <p:cNvSpPr txBox="1"/>
          <p:nvPr/>
        </p:nvSpPr>
        <p:spPr>
          <a:xfrm>
            <a:off x="609600" y="266700"/>
            <a:ext cx="9144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8" name="Picture 7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202D8F8C-D574-C865-6390-8C302C476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267947-84D4-B16D-C3D6-F62E3AF495CC}"/>
              </a:ext>
            </a:extLst>
          </p:cNvPr>
          <p:cNvSpPr txBox="1"/>
          <p:nvPr/>
        </p:nvSpPr>
        <p:spPr>
          <a:xfrm>
            <a:off x="457200" y="342900"/>
            <a:ext cx="1069576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1702" y="1909191"/>
            <a:ext cx="16164596" cy="808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5" lvl="1" indent="-356233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Kermany, D. S., Goldbaum, M., Cai, W., Valentim, C. C., Liang, H., Baxter, S. L., ... &amp; Zhang, K. (2018). Identifying medical diagnoses and treatable diseases by image-based deep learning. cell, 172(5), 1122-1131.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5" lvl="1" indent="-356233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Errabih, A., Boussarhane, M., Nsiri, B., Sadiq, A., Alaoui, M. H. E. Y., Thami, R. O. H., &amp; Benaji, B. (2022). Identifying Retinal Diseases on OCT Image Based on Deep Learning. Int. J. Online Biomed. Eng., 18(15), 141-159.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5" lvl="1" indent="-356233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Puneet, K., &amp; Gupta, M. (2022). Optical coherence tomography image-based eye disease detection using deep convolutional neural network. Health Information Science and Systems, 10(13).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5" lvl="1" indent="-356233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Pranoto, S., Hidayat, H., Sudarsono, S., &amp; Lukman, M. P. (2021, April). Detection of diabetic macular edema in optical coherence tomography image using convolutional neural network. In Proceedings of the 1st International Conference on Electronics, Biomedical Engineering, and Health Informatics: ICEBEHI 2020, 8-9 October, Surabaya, Indonesia (pp. 659-666). Singapore: Springer Singapore.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E31DF-3FFC-8306-ADF8-81BD6AE237C1}"/>
              </a:ext>
            </a:extLst>
          </p:cNvPr>
          <p:cNvSpPr txBox="1"/>
          <p:nvPr/>
        </p:nvSpPr>
        <p:spPr>
          <a:xfrm>
            <a:off x="1061702" y="419100"/>
            <a:ext cx="9144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37180" y="1405746"/>
            <a:ext cx="13013639" cy="747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20"/>
              </a:lnSpc>
              <a:spcBef>
                <a:spcPct val="0"/>
              </a:spcBef>
            </a:pPr>
            <a:r>
              <a:rPr lang="en-US" sz="21729" b="1" dirty="0">
                <a:solidFill>
                  <a:srgbClr val="37768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800</Words>
  <Application>Microsoft Office PowerPoint</Application>
  <PresentationFormat>Custom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Times New Roman Bold</vt:lpstr>
      <vt:lpstr>Helvetica World Bold</vt:lpstr>
      <vt:lpstr>Arial</vt:lpstr>
      <vt:lpstr>Times New Roman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RCAAI PPT</dc:title>
  <cp:lastModifiedBy>Reva Laghate</cp:lastModifiedBy>
  <cp:revision>2</cp:revision>
  <dcterms:created xsi:type="dcterms:W3CDTF">2006-08-16T00:00:00Z</dcterms:created>
  <dcterms:modified xsi:type="dcterms:W3CDTF">2025-10-30T09:43:08Z</dcterms:modified>
  <dc:identifier>DAG1rOjl2PQ</dc:identifier>
</cp:coreProperties>
</file>